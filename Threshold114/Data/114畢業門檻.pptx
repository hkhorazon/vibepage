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Slfy3Jvw4dz+Jya1mjHm8LLjH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D3176F-9145-4774-8F53-EF2861F2901A}">
  <a:tblStyle styleId="{27D3176F-9145-4774-8F53-EF2861F290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65797139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6579713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" name="Google Shape;17;p29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  <a:defRPr b="1"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4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" name="Google Shape;19;p29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20" name="Google Shape;20;p29"/>
            <p:cNvSpPr/>
            <p:nvPr/>
          </p:nvSpPr>
          <p:spPr>
            <a:xfrm>
              <a:off x="1687513" y="4832896"/>
              <a:ext cx="7456487" cy="51881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35443" y="5135526"/>
              <a:ext cx="9108557" cy="838200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cxnSp>
          <p:nvCxnSpPr>
            <p:cNvPr id="23" name="Google Shape;23;p29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cap="flat" cmpd="sng" w="12050">
              <a:solidFill>
                <a:srgbClr val="93C5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題" type="secHead">
  <p:cSld name="SECTION_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" name="Google Shape;39;p31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" name="Google Shape;40;p31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" name="Google Shape;4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showMasterSp="0" type="twoTxTwoObj">
  <p:cSld name="TWO_OBJECTS_WITH_TEXT">
    <p:bg>
      <p:bgPr>
        <a:blipFill rotWithShape="1">
          <a:blip r:embed="rId2">
            <a:alphaModFix/>
          </a:blip>
          <a:tile algn="tl" flip="none" tx="0" sx="50000" ty="0" sy="50000"/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1" name="Google Shape;6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showMasterSp="0" type="objTx">
  <p:cSld name="OBJECT_WITH_CAPTION_TEXT">
    <p:bg>
      <p:bgPr>
        <a:blipFill rotWithShape="1">
          <a:blip r:embed="rId2">
            <a:alphaModFix/>
          </a:blip>
          <a:tile algn="tl" flip="none" tx="0" sx="50000" ty="0" sy="50000"/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4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showMasterSp="0" type="picTx">
  <p:cSld name="PICTURE_WITH_CAPTION_TEX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7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4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" name="Google Shape;75;p37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7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9" name="Google Shape;79;p37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/>
          <p:nvPr/>
        </p:nvSpPr>
        <p:spPr>
          <a:xfrm>
            <a:off x="716436" y="5001993"/>
            <a:ext cx="3802003" cy="1443111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1" name="Google Shape;81;p37"/>
          <p:cNvSpPr/>
          <p:nvPr/>
        </p:nvSpPr>
        <p:spPr>
          <a:xfrm>
            <a:off x="-53561" y="5785023"/>
            <a:ext cx="3802003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2" name="Google Shape;82;p37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83" name="Google Shape;83;p37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37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37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8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8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9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9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5" name="Google Shape;95;p39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/>
          <p:nvPr/>
        </p:nvSpPr>
        <p:spPr>
          <a:xfrm>
            <a:off x="716436" y="5001993"/>
            <a:ext cx="3802003" cy="1443111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" name="Google Shape;7;p28"/>
          <p:cNvSpPr/>
          <p:nvPr/>
        </p:nvSpPr>
        <p:spPr>
          <a:xfrm>
            <a:off x="-53561" y="5785023"/>
            <a:ext cx="3802003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" name="Google Shape;8;p2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9" name="Google Shape;9;p28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gda.hk.edu.tw/%e5%ad%b8%e7%a8%8b/1384-2/" TargetMode="External"/><Relationship Id="rId4" Type="http://schemas.openxmlformats.org/officeDocument/2006/relationships/hyperlink" Target="https://mgda.hk.edu.tw/wp-content/uploads/2025/08/%E6%97%A5%E9%96%93%E9%83%A8U114%E7%A7%91%E7%9B%AE%E7%B8%BD%E8%A1%A8.pdf" TargetMode="External"/><Relationship Id="rId5" Type="http://schemas.openxmlformats.org/officeDocument/2006/relationships/hyperlink" Target="https://mgda.hk.edu.tw/wp-content/uploads/2025/08/114%E5%AD%B8%E5%B9%B4%E5%BA%A6%E5%9B%9B%E5%B9%B4%E5%88%B6%E6%97%A5%E9%96%93%E9%83%A8%E8%AA%B2%E7%A8%8B%E6%9E%B6%E6%A7%8B%E5%9C%B0%E5%9C%96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mgda.hk.edu.tw/wp-content/uploads/2025/09/%E6%95%B8%E4%BD%8D%E5%AA%92%E9%AB%94%E5%8B%95%E6%BC%AB%E8%A3%BD%E4%BD%9C%E5%AD%B8%E7%A8%8B11409.pdf" TargetMode="External"/><Relationship Id="rId4" Type="http://schemas.openxmlformats.org/officeDocument/2006/relationships/hyperlink" Target="https://mgda.hk.edu.tw/wp-content/uploads/2025/02/%E9%81%8A%E6%88%B2%E8%A8%AD%E8%A8%88%E5%AD%B8%E7%A8%8B1131119-v2.pdf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gda.hk.edu.tw/%e8%ad%89%e7%85%a7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f.hk.edu.tw/%E8%AB%8B%E5%81%87%E6%B5%81%E7%A8%8B%E5%8F%8A%E7%9B%B8%E9%97%9C%E8%AA%AA%E6%98%8E/" TargetMode="External"/><Relationship Id="rId4" Type="http://schemas.openxmlformats.org/officeDocument/2006/relationships/hyperlink" Target="https://lf.hk.edu.tw/wp-content/plugins/download-attachments/includes/download.php?id=6891" TargetMode="External"/><Relationship Id="rId5" Type="http://schemas.openxmlformats.org/officeDocument/2006/relationships/hyperlink" Target="https://lf.hk.edu.tw/wp-content/plugins/download-attachments/includes/download.php?id=6891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</a:pPr>
            <a:r>
              <a:rPr lang="zh-TW"/>
              <a:t>114畢業門檻</a:t>
            </a:r>
            <a:endParaRPr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64008" rtl="0" algn="r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zh-TW"/>
              <a:t>Horazon</a:t>
            </a:r>
            <a:endParaRPr/>
          </a:p>
          <a:p>
            <a:pPr indent="0" lvl="0" marL="0" marR="64008" rtl="0" algn="r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zh-TW"/>
              <a:t>2025/10/21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服務學習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128學分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必修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通識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模組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學程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證照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英文門檻</a:t>
            </a:r>
            <a:endParaRPr/>
          </a:p>
        </p:txBody>
      </p:sp>
      <p:sp>
        <p:nvSpPr>
          <p:cNvPr id="109" name="Google Shape;10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畢業門檻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b="1" lang="zh-TW" u="sng">
                <a:solidFill>
                  <a:schemeClr val="hlink"/>
                </a:solidFill>
                <a:hlinkClick r:id="rId3"/>
              </a:rPr>
              <a:t>課程規劃與科目總表</a:t>
            </a:r>
            <a:endParaRPr b="1"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 u="sng">
                <a:solidFill>
                  <a:schemeClr val="hlink"/>
                </a:solidFill>
                <a:hlinkClick r:id="rId4"/>
              </a:rPr>
              <a:t>科目總表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 u="sng">
                <a:solidFill>
                  <a:schemeClr val="hlink"/>
                </a:solidFill>
                <a:hlinkClick r:id="rId5"/>
              </a:rPr>
              <a:t>課程架構圖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通識 30 學分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必修 59 學分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選修 39 學分</a:t>
            </a:r>
            <a:endParaRPr/>
          </a:p>
        </p:txBody>
      </p:sp>
      <p:sp>
        <p:nvSpPr>
          <p:cNvPr id="115" name="Google Shape;1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通識30  (&amp;服務學習)</a:t>
            </a:r>
            <a:endParaRPr/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744" y="1447800"/>
            <a:ext cx="6916656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1752600" y="4343400"/>
            <a:ext cx="54102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752600" y="5867400"/>
            <a:ext cx="5410200" cy="60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752600" y="5334000"/>
            <a:ext cx="5410200" cy="533400"/>
          </a:xfrm>
          <a:prstGeom prst="rect">
            <a:avLst/>
          </a:prstGeom>
          <a:noFill/>
          <a:ln cap="flat" cmpd="sng" w="38100">
            <a:solidFill>
              <a:srgbClr val="2A4A7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446" lvl="0" marL="365760" rtl="0" algn="l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必修59</a:t>
            </a:r>
            <a:endParaRPr/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24000"/>
            <a:ext cx="8250237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446" lvl="0" marL="365760" rtl="0" algn="l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必修59</a:t>
            </a:r>
            <a:endParaRPr/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24000"/>
            <a:ext cx="7802563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609600" y="3048000"/>
            <a:ext cx="25908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09600" y="3962400"/>
            <a:ext cx="25908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09600" y="4495800"/>
            <a:ext cx="25908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09600" y="5410200"/>
            <a:ext cx="25908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257800" y="3048000"/>
            <a:ext cx="5334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791200" y="3962400"/>
            <a:ext cx="5334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324600" y="4495800"/>
            <a:ext cx="4572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781800" y="5410200"/>
            <a:ext cx="457200" cy="30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381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專題製作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b="1" lang="zh-TW"/>
              <a:t>二下</a:t>
            </a:r>
            <a:r>
              <a:rPr lang="zh-TW"/>
              <a:t>找3~5人一組，並且找一位指導老師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b="1" lang="zh-TW"/>
              <a:t>三年級</a:t>
            </a:r>
            <a:r>
              <a:rPr lang="zh-TW"/>
              <a:t>開始製作，會有幾次審查會議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b="1" lang="zh-TW"/>
              <a:t>四年級</a:t>
            </a:r>
            <a:r>
              <a:rPr lang="zh-TW"/>
              <a:t>完成專題，並且至少會有外部專業人員審查、校內展、校外展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製作內容</a:t>
            </a:r>
            <a:r>
              <a:rPr lang="zh-TW" sz="1800"/>
              <a:t> (個別項目有規範時間、製作內容)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多媒體：2D動畫、3D動畫、AR、VR 、光雕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遊戲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錄影、微電影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平面設計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相關辦法二下會宣布，可能會有所修改</a:t>
            </a:r>
            <a:endParaRPr/>
          </a:p>
        </p:txBody>
      </p:sp>
      <p:sp>
        <p:nvSpPr>
          <p:cNvPr id="152" name="Google Shape;15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必修專題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系上選修</a:t>
            </a:r>
            <a:r>
              <a:rPr b="1" lang="zh-TW"/>
              <a:t>19學分</a:t>
            </a:r>
            <a:r>
              <a:rPr b="1" lang="zh-TW" u="sng"/>
              <a:t>以上</a:t>
            </a:r>
            <a:endParaRPr b="1" u="sng"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 b="1" u="sng"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外系選修</a:t>
            </a:r>
            <a:r>
              <a:rPr b="1" lang="zh-TW" u="sng"/>
              <a:t>至多</a:t>
            </a:r>
            <a:r>
              <a:rPr b="1" lang="zh-TW"/>
              <a:t>20學分</a:t>
            </a:r>
            <a:endParaRPr b="1"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通識至多6學分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體育通識至多4學分  (這不等於必修通識)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全民國防教育軍事訓練課程(軍訓)不列入學分</a:t>
            </a:r>
            <a:endParaRPr b="1"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39選修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632"/>
              <a:buChar char="🞂"/>
            </a:pPr>
            <a:r>
              <a:rPr lang="zh-TW" sz="2400"/>
              <a:t>「遊戲模組」「多媒體模組」擇一，其6門選修都要選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系上選修</a:t>
            </a:r>
            <a:r>
              <a:rPr b="1" lang="zh-TW"/>
              <a:t>19學分</a:t>
            </a:r>
            <a:r>
              <a:rPr b="1" lang="zh-TW" u="sng"/>
              <a:t>以上</a:t>
            </a:r>
            <a:endParaRPr b="1" u="sng"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因為模組已經有18或17學分，所以這邊建議再多修一門課即達最低需求。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如果你現在很迷惘，那</a:t>
            </a:r>
            <a:r>
              <a:rPr b="1" lang="zh-TW"/>
              <a:t>大一下</a:t>
            </a:r>
            <a:r>
              <a:rPr lang="zh-TW"/>
              <a:t>的兩門課就都去選!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 b="1"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39選修 (模組) </a:t>
            </a:r>
            <a:endParaRPr/>
          </a:p>
        </p:txBody>
      </p:sp>
      <p:graphicFrame>
        <p:nvGraphicFramePr>
          <p:cNvPr id="165" name="Google Shape;165;p9"/>
          <p:cNvGraphicFramePr/>
          <p:nvPr/>
        </p:nvGraphicFramePr>
        <p:xfrm>
          <a:off x="5715001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{27D3176F-9145-4774-8F53-EF2861F2901A}</a:tableStyleId>
              </a:tblPr>
              <a:tblGrid>
                <a:gridCol w="1984475"/>
                <a:gridCol w="536350"/>
                <a:gridCol w="6033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14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虛擬網紅與直播整合應用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一下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串流轉播實務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二上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基礎動畫製作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二下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進階動畫製作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三上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數位藝術製作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三下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多媒體數位發行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2/2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四上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9"/>
          <p:cNvGraphicFramePr/>
          <p:nvPr/>
        </p:nvGraphicFramePr>
        <p:xfrm>
          <a:off x="2286002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{27D3176F-9145-4774-8F53-EF2861F2901A}</a:tableStyleId>
              </a:tblPr>
              <a:tblGrid>
                <a:gridCol w="2081275"/>
                <a:gridCol w="562500"/>
                <a:gridCol w="632825"/>
              </a:tblGrid>
              <a:tr h="3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MingLiu"/>
                          <a:ea typeface="MingLiu"/>
                          <a:cs typeface="MingLiu"/>
                          <a:sym typeface="MingLiu"/>
                        </a:rPr>
                        <a:t>遊戲雛形設計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一下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18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基礎遊戲引擎應用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二上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基礎遊戲製作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二下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進階遊戲製作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三上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遊戲特效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三下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XR遊戲實作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3/3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zh-TW" sz="2000" u="none" cap="none" strike="noStrike">
                          <a:solidFill>
                            <a:srgbClr val="212529"/>
                          </a:solidFill>
                          <a:latin typeface="MingLiu"/>
                          <a:ea typeface="MingLiu"/>
                          <a:cs typeface="MingLiu"/>
                          <a:sym typeface="MingLiu"/>
                        </a:rPr>
                        <a:t>四上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9"/>
          <p:cNvSpPr/>
          <p:nvPr/>
        </p:nvSpPr>
        <p:spPr>
          <a:xfrm>
            <a:off x="6010724" y="3500725"/>
            <a:ext cx="222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 u="sng">
                <a:solidFill>
                  <a:srgbClr val="212529"/>
                </a:solidFill>
                <a:latin typeface="MingLiu"/>
                <a:ea typeface="MingLiu"/>
                <a:cs typeface="MingLiu"/>
                <a:sym typeface="MingLiu"/>
              </a:rPr>
              <a:t>多媒體模組</a:t>
            </a:r>
            <a:endParaRPr b="1" i="0" sz="2400" u="sng" strike="noStrike">
              <a:solidFill>
                <a:srgbClr val="212529"/>
              </a:solidFill>
              <a:latin typeface="MingLiu"/>
              <a:ea typeface="MingLiu"/>
              <a:cs typeface="MingLiu"/>
              <a:sym typeface="MingLiu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2833475" y="3500725"/>
            <a:ext cx="189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400" u="sng" strike="noStrike">
                <a:solidFill>
                  <a:srgbClr val="212529"/>
                </a:solidFill>
                <a:latin typeface="MingLiu"/>
                <a:ea typeface="MingLiu"/>
                <a:cs typeface="MingLiu"/>
                <a:sym typeface="MingLiu"/>
              </a:rPr>
              <a:t>遊戲模組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外系選修</a:t>
            </a:r>
            <a:r>
              <a:rPr b="1" lang="zh-TW" u="sng"/>
              <a:t>至多</a:t>
            </a:r>
            <a:r>
              <a:rPr b="1" lang="zh-TW"/>
              <a:t>20學分</a:t>
            </a:r>
            <a:endParaRPr b="1"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必須要選一個跨系學程</a:t>
            </a:r>
            <a:endParaRPr b="1"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 u="sng">
                <a:solidFill>
                  <a:schemeClr val="hlink"/>
                </a:solidFill>
                <a:hlinkClick r:id="rId3"/>
              </a:rPr>
              <a:t>數位媒體動漫製作學程</a:t>
            </a:r>
            <a:r>
              <a:rPr lang="zh-TW"/>
              <a:t>、</a:t>
            </a:r>
            <a:r>
              <a:rPr lang="zh-TW" u="sng">
                <a:solidFill>
                  <a:schemeClr val="hlink"/>
                </a:solidFill>
                <a:hlinkClick r:id="rId4"/>
              </a:rPr>
              <a:t>遊戲設計學程</a:t>
            </a:r>
            <a:endParaRPr u="sng"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400"/>
              <a:buChar char="◦"/>
            </a:pPr>
            <a:r>
              <a:rPr lang="zh-TW" sz="2400"/>
              <a:t>至少應修習16學分，核心課程至少8學分， 選修課程至少8學分，需至少修畢 三門他系課程。</a:t>
            </a:r>
            <a:endParaRPr sz="2400"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400"/>
              <a:buChar char="◦"/>
            </a:pPr>
            <a:r>
              <a:rPr lang="zh-TW" sz="2400"/>
              <a:t>裡面有我們系上的必修課，也有前面模組的選修課，但是務必要確認有</a:t>
            </a:r>
            <a:r>
              <a:rPr b="1" lang="zh-TW" sz="2400" u="sng"/>
              <a:t>三門別系的課程</a:t>
            </a:r>
            <a:endParaRPr b="1" sz="2400" u="sng"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39選修 (學程)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657971397_0_0"/>
          <p:cNvSpPr txBox="1"/>
          <p:nvPr>
            <p:ph idx="1" type="body"/>
          </p:nvPr>
        </p:nvSpPr>
        <p:spPr>
          <a:xfrm>
            <a:off x="457200" y="1481328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894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系統開啟學程 (推薦對應你的模組選!)</a:t>
            </a:r>
            <a:endParaRPr/>
          </a:p>
          <a:p>
            <a:pPr indent="0" lvl="0" marL="36576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4894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核心</a:t>
            </a:r>
            <a:r>
              <a:rPr b="1" lang="zh-TW"/>
              <a:t> </a:t>
            </a:r>
            <a:r>
              <a:rPr b="1" lang="zh-TW" u="sng"/>
              <a:t>8 學分</a:t>
            </a:r>
            <a:r>
              <a:rPr lang="zh-TW"/>
              <a:t> 以上</a:t>
            </a:r>
            <a:endParaRPr/>
          </a:p>
          <a:p>
            <a:pPr indent="-228600" lvl="1" marL="621792" rtl="0" algn="l"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zh-TW"/>
              <a:t>[核心]高機率出現在必修中</a:t>
            </a:r>
            <a:endParaRPr/>
          </a:p>
          <a:p>
            <a:pPr indent="-294894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選修</a:t>
            </a:r>
            <a:r>
              <a:rPr b="1" lang="zh-TW"/>
              <a:t> </a:t>
            </a:r>
            <a:r>
              <a:rPr b="1" lang="zh-TW" u="sng"/>
              <a:t>8 學分</a:t>
            </a:r>
            <a:r>
              <a:rPr lang="zh-TW"/>
              <a:t> 以上</a:t>
            </a:r>
            <a:endParaRPr/>
          </a:p>
          <a:p>
            <a:pPr indent="-228600" lvl="1" marL="621792" rtl="0" algn="l"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zh-TW"/>
              <a:t>[選修]高機率出現在模組必修中</a:t>
            </a:r>
            <a:endParaRPr/>
          </a:p>
          <a:p>
            <a:pPr indent="-294894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外系 </a:t>
            </a:r>
            <a:r>
              <a:rPr b="1" lang="zh-TW" u="sng">
                <a:solidFill>
                  <a:srgbClr val="FF0000"/>
                </a:solidFill>
              </a:rPr>
              <a:t>3 門課</a:t>
            </a:r>
            <a:r>
              <a:rPr lang="zh-TW"/>
              <a:t> 以上</a:t>
            </a:r>
            <a:endParaRPr/>
          </a:p>
          <a:p>
            <a:pPr indent="-228600" lvl="1" marL="621792" rtl="0" algn="l"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zh-TW"/>
              <a:t>同時可計算為前面提到的 8/8 學分</a:t>
            </a:r>
            <a:endParaRPr/>
          </a:p>
          <a:p>
            <a:pPr indent="-228600" lvl="1" marL="621792" rtl="0" algn="l"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zh-TW"/>
              <a:t>同名課如果認列外系，就不能認列本系的，但本系通常都足夠</a:t>
            </a:r>
            <a:endParaRPr/>
          </a:p>
          <a:p>
            <a:pPr indent="-228600" lvl="1" marL="621792" rtl="0" algn="l"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zh-TW"/>
              <a:t>外系課非常難選 (該系優先 &amp; 高年級優先)</a:t>
            </a:r>
            <a:endParaRPr/>
          </a:p>
        </p:txBody>
      </p:sp>
      <p:sp>
        <p:nvSpPr>
          <p:cNvPr id="180" name="Google Shape;180;g3e657971397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39選修 (學程) </a:t>
            </a:r>
            <a:endParaRPr/>
          </a:p>
        </p:txBody>
      </p:sp>
      <p:sp>
        <p:nvSpPr>
          <p:cNvPr id="181" name="Google Shape;181;g3e657971397_0_0"/>
          <p:cNvSpPr txBox="1"/>
          <p:nvPr/>
        </p:nvSpPr>
        <p:spPr>
          <a:xfrm>
            <a:off x="1432350" y="5268575"/>
            <a:ext cx="2947200" cy="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82" name="Google Shape;182;g3e657971397_0_0"/>
          <p:cNvSpPr txBox="1"/>
          <p:nvPr/>
        </p:nvSpPr>
        <p:spPr>
          <a:xfrm>
            <a:off x="0" y="6308225"/>
            <a:ext cx="30810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rgbClr val="0000FF"/>
                </a:solidFill>
                <a:latin typeface="Lucida Sans"/>
                <a:ea typeface="Lucida Sans"/>
                <a:cs typeface="Lucida Sans"/>
                <a:sym typeface="Lucida Sans"/>
              </a:rPr>
              <a:t>2026/4/26新增</a:t>
            </a:r>
            <a:endParaRPr sz="1700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模組 (17-18) &amp; 學程 (10-16)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剩下的學分 (通常會剩約10學分)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通識至多6學分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體育通識至多4學分  (這不等於必修通識)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全民國防教育軍事訓練課程(軍訓)不列入學分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也可以回去選系上選修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128學分 – 39選修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1A2B =&gt; 1個A 或 2個B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632"/>
              <a:buChar char="🞂"/>
            </a:pPr>
            <a:r>
              <a:rPr lang="zh-TW" sz="2400" u="sng">
                <a:solidFill>
                  <a:schemeClr val="hlink"/>
                </a:solidFill>
                <a:hlinkClick r:id="rId3"/>
              </a:rPr>
              <a:t>https://mgda.hk.edu.tw/%e8%ad%89%e7%85%a7/</a:t>
            </a:r>
            <a:endParaRPr sz="2400"/>
          </a:p>
          <a:p>
            <a:pPr indent="-152400" lvl="0" marL="365760" rtl="0" algn="l">
              <a:spcBef>
                <a:spcPts val="400"/>
              </a:spcBef>
              <a:spcAft>
                <a:spcPts val="0"/>
              </a:spcAft>
              <a:buSzPts val="1632"/>
              <a:buNone/>
            </a:pPr>
            <a:r>
              <a:t/>
            </a:r>
            <a:endParaRPr sz="2400"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632"/>
              <a:buChar char="🞂"/>
            </a:pPr>
            <a:r>
              <a:rPr lang="zh-TW" sz="2400"/>
              <a:t>系上會不定期開證照研習 + 考證照，看到都可以考慮參加，甚至你沒有相關經驗都可以試試</a:t>
            </a:r>
            <a:endParaRPr sz="2400"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比如說 10/18, 10/19 就考了兩張A級 (Unity Certified User)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如果符合「弘愛築夢」資格，可以申請考證照補助 </a:t>
            </a:r>
            <a:endParaRPr/>
          </a:p>
        </p:txBody>
      </p:sp>
      <p:sp>
        <p:nvSpPr>
          <p:cNvPr id="194" name="Google Shape;19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證照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英文門檻</a:t>
            </a:r>
            <a:endParaRPr/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37" y="1524000"/>
            <a:ext cx="9097963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/>
          <p:nvPr/>
        </p:nvSpPr>
        <p:spPr>
          <a:xfrm>
            <a:off x="228600" y="3810000"/>
            <a:ext cx="8686800" cy="533400"/>
          </a:xfrm>
          <a:prstGeom prst="rect">
            <a:avLst/>
          </a:prstGeom>
          <a:solidFill>
            <a:schemeClr val="dk1"/>
          </a:solidFill>
          <a:ln cap="flat" cmpd="thickThin" w="55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若未能通過附表二標準者，得補修「基礎職場英文」，該課程成績及格視為通過英文能力畢業資格，但其學分不計入畢業學分。 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>
                <a:solidFill>
                  <a:srgbClr val="FF0000"/>
                </a:solidFill>
              </a:rPr>
              <a:t>你要先去考一次，未通過才能修「基礎職場英文」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編於 C 級課程之學生，可參加外語暨全英教學中心所辦理「線上口說英語測驗」，通過後，得選修「基礎職場英文」，該課程成績及格視為通過英文能力畢業資格。 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>
                <a:solidFill>
                  <a:srgbClr val="FF0000"/>
                </a:solidFill>
              </a:rPr>
              <a:t>C級也可以改考學校內的，再去修「基礎職場英文」</a:t>
            </a:r>
            <a:endParaRPr/>
          </a:p>
        </p:txBody>
      </p:sp>
      <p:sp>
        <p:nvSpPr>
          <p:cNvPr id="207" name="Google Shape;20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英文門檻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第一次選課(志願分發)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前一學期第15週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第二次選課(即選即知)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前一學期第17週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第三次選課(即選即知)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學期開始後第1週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學期開始後第1~2週  (高修低、跨外系選課、體育)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放棄修課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第13週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選課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</a:pPr>
            <a:r>
              <a:rPr lang="zh-TW"/>
              <a:t>請假重要事項</a:t>
            </a:r>
            <a:endParaRPr/>
          </a:p>
        </p:txBody>
      </p:sp>
      <p:sp>
        <p:nvSpPr>
          <p:cNvPr id="219" name="Google Shape;219;p16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64008" rtl="0" algn="r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zh-TW"/>
              <a:t>Horazon</a:t>
            </a:r>
            <a:endParaRPr/>
          </a:p>
          <a:p>
            <a:pPr indent="0" lvl="0" marL="0" marR="64008" rtl="0" algn="r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zh-TW"/>
              <a:t>2025/10/21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 u="sng">
                <a:solidFill>
                  <a:schemeClr val="hlink"/>
                </a:solidFill>
                <a:hlinkClick r:id="rId3"/>
              </a:rPr>
              <a:t>相關說明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 u="sng">
                <a:solidFill>
                  <a:schemeClr val="hlink"/>
                </a:solidFill>
                <a:hlinkClick r:id="rId5"/>
              </a:rPr>
              <a:t>文件連結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事假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事前辦理；若因特殊事故必要由本人親自處理而無法事先請假，須於事後檢附相關証明文件進行請假。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病假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三日以上者應檢附醫院證明，最遲應於返校三日內補假，重大傷病，以個案辦理請假核准。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生理假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女性學生因生理日致使就學困難時，每月得請一天，無 需出示證明。</a:t>
            </a:r>
            <a:endParaRPr/>
          </a:p>
        </p:txBody>
      </p:sp>
      <p:sp>
        <p:nvSpPr>
          <p:cNvPr id="225" name="Google Shape;22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請假規範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56054" lvl="0" marL="365760" rtl="0" algn="l">
              <a:spcBef>
                <a:spcPts val="0"/>
              </a:spcBef>
              <a:spcAft>
                <a:spcPts val="0"/>
              </a:spcAft>
              <a:buSzPct val="68000"/>
              <a:buChar char="🞂"/>
            </a:pPr>
            <a:r>
              <a:rPr lang="zh-TW"/>
              <a:t>以下有需要請查法規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婚假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分娩假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流產假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陪產假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喪假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原住民歲時祭儀假：</a:t>
            </a:r>
            <a:endParaRPr/>
          </a:p>
          <a:p>
            <a:pPr indent="-256054" lvl="0" marL="365760" rtl="0" algn="l">
              <a:spcBef>
                <a:spcPts val="400"/>
              </a:spcBef>
              <a:spcAft>
                <a:spcPts val="0"/>
              </a:spcAft>
              <a:buSzPct val="68000"/>
              <a:buChar char="🞂"/>
            </a:pPr>
            <a:r>
              <a:rPr lang="zh-TW"/>
              <a:t>心理假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學生因心理或精神不適，致上課有困難者，得提出申請，並副知 學生事務處諮商輔導中心(諮輔中心)，每學期以三天為限。</a:t>
            </a:r>
            <a:endParaRPr/>
          </a:p>
          <a:p>
            <a:pPr indent="-228632" lvl="1" marL="621792" rtl="0" algn="l">
              <a:spcBef>
                <a:spcPts val="324"/>
              </a:spcBef>
              <a:spcAft>
                <a:spcPts val="0"/>
              </a:spcAft>
              <a:buSzPct val="100000"/>
              <a:buChar char="◦"/>
            </a:pPr>
            <a:r>
              <a:rPr lang="zh-TW"/>
              <a:t>請假日數累計二天以上者，由導師評估是否轉介至諮輔中心。 </a:t>
            </a:r>
            <a:endParaRPr/>
          </a:p>
        </p:txBody>
      </p:sp>
      <p:sp>
        <p:nvSpPr>
          <p:cNvPr id="231" name="Google Shape;23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請假規範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公假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公假須由導師 + 系主任 核准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任何假別</a:t>
            </a:r>
            <a:r>
              <a:rPr b="1" lang="zh-TW" u="sng"/>
              <a:t>三日以上</a:t>
            </a:r>
            <a:r>
              <a:rPr lang="zh-TW"/>
              <a:t>須由 導師 + 系主任 核准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請假規範</a:t>
            </a:r>
            <a:endParaRPr/>
          </a:p>
        </p:txBody>
      </p:sp>
      <p:pic>
        <p:nvPicPr>
          <p:cNvPr id="238" name="Google Shape;2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295400"/>
            <a:ext cx="4802905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非公假視為「缺課」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所有科目：缺課+曠課超過 二分之一時，則會列為休學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未請假視為「曠課」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曠課達 三分之一 ，成績以零分計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但是課程的分數還是由授課老師決定，不是請假就一定沒問題。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請假規範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</a:pPr>
            <a:r>
              <a:rPr lang="zh-TW"/>
              <a:t>114下 – 選課</a:t>
            </a:r>
            <a:endParaRPr/>
          </a:p>
        </p:txBody>
      </p:sp>
      <p:sp>
        <p:nvSpPr>
          <p:cNvPr id="250" name="Google Shape;250;p21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64008" rtl="0" algn="r"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zh-TW"/>
              <a:t>Horazon</a:t>
            </a:r>
            <a:endParaRPr/>
          </a:p>
          <a:p>
            <a:pPr indent="0" lvl="0" marL="0" marR="64008" rtl="0" algn="r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rPr lang="zh-TW"/>
              <a:t>2025/12/26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還不能查詢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選修 與 體育 一定不會和必修衝堂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周一34 會有課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已有學分 15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中文2、英文2、體育2、資訊2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2D動畫 3、產品行銷 2、AI運用 2</a:t>
            </a:r>
            <a:endParaRPr/>
          </a:p>
        </p:txBody>
      </p:sp>
      <p:sp>
        <p:nvSpPr>
          <p:cNvPr id="256" name="Google Shape;25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課表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第一次(第15週) 12/15 – 12/21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志願型，只需要排序</a:t>
            </a:r>
            <a:endParaRPr/>
          </a:p>
          <a:p>
            <a:pPr indent="-139446" lvl="0" marL="365760" rtl="0" algn="l"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第二次(第17週) 12/29 – 1/4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加退選，先搶先贏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第三次(該學期第1週) 2/24 – 3/2 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開學第一周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加退選，先搶先贏</a:t>
            </a:r>
            <a:endParaRPr/>
          </a:p>
        </p:txBody>
      </p:sp>
      <p:sp>
        <p:nvSpPr>
          <p:cNvPr id="262" name="Google Shape;26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選課時間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體育課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必修總共1學期x2學分 (一下)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可以選喜歡的種類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不需要管開課班級!  (ex文創一年級)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不選或沒有選到，學校會分配給你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電競班規則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268" name="Google Shape;26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選課內容 – 體育通識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專業選修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只能先選 日一年級的課 (不用管甲乙班</a:t>
            </a:r>
            <a:endParaRPr/>
          </a:p>
          <a:p>
            <a:pPr indent="0" lvl="1" marL="3931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模組必修</a:t>
            </a:r>
            <a:endParaRPr/>
          </a:p>
          <a:p>
            <a:pPr indent="-228600" lvl="2" marL="859536" rtl="0" algn="l">
              <a:spcBef>
                <a:spcPts val="350"/>
              </a:spcBef>
              <a:spcAft>
                <a:spcPts val="0"/>
              </a:spcAft>
              <a:buSzPts val="2400"/>
              <a:buChar char="●"/>
            </a:pPr>
            <a:r>
              <a:rPr b="0" i="0" lang="zh-TW" sz="2400" u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虛擬網紅與直播整合應用</a:t>
            </a:r>
            <a:endParaRPr/>
          </a:p>
          <a:p>
            <a:pPr indent="-228600" lvl="2" marL="859536" rtl="0" algn="l">
              <a:spcBef>
                <a:spcPts val="350"/>
              </a:spcBef>
              <a:spcAft>
                <a:spcPts val="0"/>
              </a:spcAft>
              <a:buSzPts val="2400"/>
              <a:buChar char="●"/>
            </a:pPr>
            <a:r>
              <a:rPr b="0" i="0" lang="zh-TW" sz="2400" u="none" strike="noStrike">
                <a:solidFill>
                  <a:srgbClr val="212529"/>
                </a:solidFill>
                <a:latin typeface="MingLiu"/>
                <a:ea typeface="MingLiu"/>
                <a:cs typeface="MingLiu"/>
                <a:sym typeface="MingLiu"/>
              </a:rPr>
              <a:t>遊戲雛形設計</a:t>
            </a:r>
            <a:endParaRPr b="0" i="0" sz="2400" u="none" strike="noStrike">
              <a:solidFill>
                <a:srgbClr val="212529"/>
              </a:solidFill>
              <a:latin typeface="MingLiu"/>
              <a:ea typeface="MingLiu"/>
              <a:cs typeface="MingLiu"/>
              <a:sym typeface="MingLiu"/>
            </a:endParaRPr>
          </a:p>
          <a:p>
            <a:pPr indent="-76200" lvl="2" marL="859536" rtl="0" algn="l">
              <a:spcBef>
                <a:spcPts val="35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 strike="noStrike">
              <a:solidFill>
                <a:srgbClr val="212529"/>
              </a:solidFill>
              <a:latin typeface="MingLiu"/>
              <a:ea typeface="MingLiu"/>
              <a:cs typeface="MingLiu"/>
              <a:sym typeface="MingLiu"/>
            </a:endParaRPr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如果對模組還沒概念，我建議兩門課都選</a:t>
            </a:r>
            <a:endParaRPr/>
          </a:p>
        </p:txBody>
      </p:sp>
      <p:sp>
        <p:nvSpPr>
          <p:cNvPr id="274" name="Google Shape;27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選課內容 - 選修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通識選修</a:t>
            </a:r>
            <a:endParaRPr/>
          </a:p>
          <a:p>
            <a:pPr indent="-256032" lvl="0" marL="365760" rtl="0" algn="l">
              <a:spcBef>
                <a:spcPts val="40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通識至多認列6學分，其中體育至多認列4學分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視個人興趣去修，不一定要在現在修完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時間不會與必修衝堂，但有可能和選修/其他通識衝堂，請自行注意時間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選課內容 – 通識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32" lvl="0" marL="365760" rtl="0" algn="l">
              <a:spcBef>
                <a:spcPts val="0"/>
              </a:spcBef>
              <a:spcAft>
                <a:spcPts val="0"/>
              </a:spcAft>
              <a:buSzPts val="1836"/>
              <a:buChar char="🞂"/>
            </a:pPr>
            <a:r>
              <a:rPr lang="zh-TW"/>
              <a:t>軍訓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b="1" lang="zh-TW">
                <a:solidFill>
                  <a:srgbClr val="FF0000"/>
                </a:solidFill>
              </a:rPr>
              <a:t>不認列為畢業學分</a:t>
            </a:r>
            <a:endParaRPr b="1">
              <a:solidFill>
                <a:srgbClr val="FF0000"/>
              </a:solidFill>
            </a:endParaRPr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主要是男生會去修，女生通常不用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視自己需求去修</a:t>
            </a:r>
            <a:endParaRPr/>
          </a:p>
          <a:p>
            <a:pPr indent="-82550" lvl="1" marL="621792" rtl="0" algn="l">
              <a:spcBef>
                <a:spcPts val="324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每門軍訓可以折抵約2天的兵役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有五門課可以選，不可重複選，至多10天</a:t>
            </a:r>
            <a:endParaRPr/>
          </a:p>
          <a:p>
            <a:pPr indent="-228600" lvl="1" marL="621792" rtl="0" algn="l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r>
              <a:rPr lang="zh-TW"/>
              <a:t>報考大學儲備軍官：應於畢業前，至少選修 1 門課程。</a:t>
            </a:r>
            <a:endParaRPr/>
          </a:p>
        </p:txBody>
      </p:sp>
      <p:sp>
        <p:nvSpPr>
          <p:cNvPr id="286" name="Google Shape;28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lang="zh-TW"/>
              <a:t>選課內容 – 軍訓</a:t>
            </a:r>
            <a:endParaRPr/>
          </a:p>
        </p:txBody>
      </p:sp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4800600"/>
            <a:ext cx="5888037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匯合">
  <a:themeElements>
    <a:clrScheme name="匯合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2025-10-17T15:54:14Z</dcterms:created>
  <dc:creator>user</dc:creator>
</cp:coreProperties>
</file>